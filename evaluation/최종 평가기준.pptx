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0" r:id="rId2"/>
    <p:sldId id="259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54" d="100"/>
          <a:sy n="54" d="100"/>
        </p:scale>
        <p:origin x="26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FDBE9-4285-48CC-A2CA-9807D6106E99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3013"/>
            <a:ext cx="23241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13"/>
            <a:ext cx="5486400" cy="39163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D9AF0-D6E8-44C2-9AB3-1AA12E51CF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453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C9982-3A48-4981-9587-567C48A222CD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9F891-50EE-45AE-A593-DCCF8C32A7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260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C9982-3A48-4981-9587-567C48A222CD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9F891-50EE-45AE-A593-DCCF8C32A7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1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C9982-3A48-4981-9587-567C48A222CD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9F891-50EE-45AE-A593-DCCF8C32A7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946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C9982-3A48-4981-9587-567C48A222CD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9F891-50EE-45AE-A593-DCCF8C32A7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59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C9982-3A48-4981-9587-567C48A222CD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9F891-50EE-45AE-A593-DCCF8C32A7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533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C9982-3A48-4981-9587-567C48A222CD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9F891-50EE-45AE-A593-DCCF8C32A7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128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C9982-3A48-4981-9587-567C48A222CD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9F891-50EE-45AE-A593-DCCF8C32A7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600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C9982-3A48-4981-9587-567C48A222CD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9F891-50EE-45AE-A593-DCCF8C32A7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008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C9982-3A48-4981-9587-567C48A222CD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9F891-50EE-45AE-A593-DCCF8C32A7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12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C9982-3A48-4981-9587-567C48A222CD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9F891-50EE-45AE-A593-DCCF8C32A7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19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C9982-3A48-4981-9587-567C48A222CD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9F891-50EE-45AE-A593-DCCF8C32A7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31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C9982-3A48-4981-9587-567C48A222CD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9F891-50EE-45AE-A593-DCCF8C32A7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760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8E41231-49C7-88BC-4620-7A049AA16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848993"/>
              </p:ext>
            </p:extLst>
          </p:nvPr>
        </p:nvGraphicFramePr>
        <p:xfrm>
          <a:off x="442913" y="992188"/>
          <a:ext cx="5972172" cy="741896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17693">
                  <a:extLst>
                    <a:ext uri="{9D8B030D-6E8A-4147-A177-3AD203B41FA5}">
                      <a16:colId xmlns:a16="http://schemas.microsoft.com/office/drawing/2014/main" val="3684270683"/>
                    </a:ext>
                  </a:extLst>
                </a:gridCol>
                <a:gridCol w="717693">
                  <a:extLst>
                    <a:ext uri="{9D8B030D-6E8A-4147-A177-3AD203B41FA5}">
                      <a16:colId xmlns:a16="http://schemas.microsoft.com/office/drawing/2014/main" val="986004327"/>
                    </a:ext>
                  </a:extLst>
                </a:gridCol>
                <a:gridCol w="2106954">
                  <a:extLst>
                    <a:ext uri="{9D8B030D-6E8A-4147-A177-3AD203B41FA5}">
                      <a16:colId xmlns:a16="http://schemas.microsoft.com/office/drawing/2014/main" val="1253008562"/>
                    </a:ext>
                  </a:extLst>
                </a:gridCol>
                <a:gridCol w="404972">
                  <a:extLst>
                    <a:ext uri="{9D8B030D-6E8A-4147-A177-3AD203B41FA5}">
                      <a16:colId xmlns:a16="http://schemas.microsoft.com/office/drawing/2014/main" val="3754289881"/>
                    </a:ext>
                  </a:extLst>
                </a:gridCol>
                <a:gridCol w="404972">
                  <a:extLst>
                    <a:ext uri="{9D8B030D-6E8A-4147-A177-3AD203B41FA5}">
                      <a16:colId xmlns:a16="http://schemas.microsoft.com/office/drawing/2014/main" val="2926870595"/>
                    </a:ext>
                  </a:extLst>
                </a:gridCol>
                <a:gridCol w="404972">
                  <a:extLst>
                    <a:ext uri="{9D8B030D-6E8A-4147-A177-3AD203B41FA5}">
                      <a16:colId xmlns:a16="http://schemas.microsoft.com/office/drawing/2014/main" val="4154970879"/>
                    </a:ext>
                  </a:extLst>
                </a:gridCol>
                <a:gridCol w="404972">
                  <a:extLst>
                    <a:ext uri="{9D8B030D-6E8A-4147-A177-3AD203B41FA5}">
                      <a16:colId xmlns:a16="http://schemas.microsoft.com/office/drawing/2014/main" val="4193934551"/>
                    </a:ext>
                  </a:extLst>
                </a:gridCol>
                <a:gridCol w="404972">
                  <a:extLst>
                    <a:ext uri="{9D8B030D-6E8A-4147-A177-3AD203B41FA5}">
                      <a16:colId xmlns:a16="http://schemas.microsoft.com/office/drawing/2014/main" val="3734255014"/>
                    </a:ext>
                  </a:extLst>
                </a:gridCol>
                <a:gridCol w="404972">
                  <a:extLst>
                    <a:ext uri="{9D8B030D-6E8A-4147-A177-3AD203B41FA5}">
                      <a16:colId xmlns:a16="http://schemas.microsoft.com/office/drawing/2014/main" val="3154597576"/>
                    </a:ext>
                  </a:extLst>
                </a:gridCol>
              </a:tblGrid>
              <a:tr h="29184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highlight>
                            <a:srgbClr val="FFFFFF"/>
                          </a:highlight>
                          <a:latin typeface="+mj-ea"/>
                          <a:ea typeface="+mj-ea"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highlight>
                            <a:srgbClr val="FFFFFF"/>
                          </a:highlight>
                          <a:latin typeface="+mj-ea"/>
                          <a:ea typeface="+mj-ea"/>
                        </a:rPr>
                        <a:t>평가항목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j-ea"/>
                          <a:ea typeface="+mj-ea"/>
                        </a:rPr>
                        <a:t>배점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___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___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___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___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___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905037918"/>
                  </a:ext>
                </a:extLst>
              </a:tr>
              <a:tr h="6903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+mj-ea"/>
                          <a:ea typeface="+mj-ea"/>
                        </a:rPr>
                        <a:t>Phase 1 </a:t>
                      </a:r>
                    </a:p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+mj-ea"/>
                          <a:ea typeface="+mj-ea"/>
                        </a:rPr>
                        <a:t>(20%)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1.1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데이터를 적절하게 분석하여 </a:t>
                      </a:r>
                      <a:endParaRPr lang="en-US" altLang="ko-KR" sz="110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지수 분포의 </a:t>
                      </a:r>
                      <a:r>
                        <a:rPr lang="ko-KR" altLang="en-US" sz="1100" u="none" strike="noStrike" dirty="0" err="1">
                          <a:effectLst/>
                          <a:latin typeface="+mj-ea"/>
                          <a:ea typeface="+mj-ea"/>
                        </a:rPr>
                        <a:t>모수를</a:t>
                      </a:r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 추정하였는가 </a:t>
                      </a:r>
                      <a:r>
                        <a:rPr lang="en-US" altLang="ko-KR" sz="1100" u="none" strike="noStrike" dirty="0">
                          <a:effectLst/>
                          <a:latin typeface="+mj-ea"/>
                          <a:ea typeface="+mj-ea"/>
                        </a:rPr>
                        <a:t>(group</a:t>
                      </a:r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당 </a:t>
                      </a:r>
                      <a:r>
                        <a:rPr lang="en-US" altLang="ko-KR" sz="1100" u="none" strike="noStrike" dirty="0">
                          <a:effectLst/>
                          <a:latin typeface="+mj-ea"/>
                          <a:ea typeface="+mj-ea"/>
                        </a:rPr>
                        <a:t>5</a:t>
                      </a:r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점</a:t>
                      </a:r>
                      <a:r>
                        <a:rPr lang="en-US" altLang="ko-KR" sz="1100" u="none" strike="noStrike" dirty="0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35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54566904"/>
                  </a:ext>
                </a:extLst>
              </a:tr>
              <a:tr h="5569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1.2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적절한 데이터 분석 방법을 사용하였는가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461684928"/>
                  </a:ext>
                </a:extLst>
              </a:tr>
              <a:tr h="64758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+mj-ea"/>
                          <a:ea typeface="+mj-ea"/>
                        </a:rPr>
                        <a:t>Phase 2</a:t>
                      </a:r>
                    </a:p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+mj-ea"/>
                          <a:ea typeface="+mj-ea"/>
                        </a:rPr>
                        <a:t> (40%)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2.1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주어진 조건을 통해 시스템 </a:t>
                      </a:r>
                      <a:endParaRPr lang="en-US" altLang="ko-KR" sz="110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구조도를 적절하게 설계하였는가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20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082424798"/>
                  </a:ext>
                </a:extLst>
              </a:tr>
              <a:tr h="6674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2.2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j-ea"/>
                          <a:ea typeface="+mj-ea"/>
                        </a:rPr>
                        <a:t>seed value</a:t>
                      </a:r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을 변경하여 </a:t>
                      </a:r>
                      <a:endParaRPr lang="en-US" altLang="ko-KR" sz="110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시뮬레이션을 반복 실행하였는가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06294440"/>
                  </a:ext>
                </a:extLst>
              </a:tr>
              <a:tr h="10689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2.3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시스템 분석 지표 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유휴율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, average queue length 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을 통해 </a:t>
                      </a:r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최적의 개찰구 개수를 </a:t>
                      </a:r>
                      <a:endParaRPr lang="en-US" altLang="ko-KR" sz="110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논리적으로 도출하였는가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40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97597272"/>
                  </a:ext>
                </a:extLst>
              </a:tr>
              <a:tr h="4662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2.4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시뮬레이션의 결과를 </a:t>
                      </a:r>
                      <a:endParaRPr lang="en-US" altLang="ko-KR" sz="110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  <a:latin typeface="+mj-ea"/>
                          <a:ea typeface="+mj-ea"/>
                        </a:rPr>
                        <a:t>시각화하였는가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j-ea"/>
                          <a:ea typeface="+mj-ea"/>
                        </a:rPr>
                        <a:t>15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96224225"/>
                  </a:ext>
                </a:extLst>
              </a:tr>
              <a:tr h="46625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+mj-ea"/>
                          <a:ea typeface="+mj-ea"/>
                        </a:rPr>
                        <a:t>Phase 3</a:t>
                      </a:r>
                    </a:p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+mj-ea"/>
                          <a:ea typeface="+mj-ea"/>
                        </a:rPr>
                        <a:t> (30%)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j-ea"/>
                          <a:ea typeface="+mj-ea"/>
                        </a:rPr>
                        <a:t>3.1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창의적인 해결방안을 </a:t>
                      </a:r>
                      <a:endParaRPr lang="en-US" altLang="ko-KR" sz="110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제시하였는가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30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800594209"/>
                  </a:ext>
                </a:extLst>
              </a:tr>
              <a:tr h="615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3.2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제시한 방법이 명확하고 </a:t>
                      </a:r>
                      <a:endParaRPr lang="en-US" altLang="ko-KR" sz="110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논리적인 근거가 있는가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20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99425517"/>
                  </a:ext>
                </a:extLst>
              </a:tr>
              <a:tr h="7321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j-ea"/>
                          <a:ea typeface="+mj-ea"/>
                        </a:rPr>
                        <a:t>3.3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제시한 방법의 결론 및 한계점을 적절히 제시하였는가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836381013"/>
                  </a:ext>
                </a:extLst>
              </a:tr>
              <a:tr h="29184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j-ea"/>
                          <a:ea typeface="+mj-ea"/>
                        </a:rPr>
                        <a:t>발표</a:t>
                      </a:r>
                      <a:endParaRPr lang="en-US" altLang="ko-KR" sz="1100" b="1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  <a:latin typeface="+mj-ea"/>
                          <a:ea typeface="+mj-ea"/>
                        </a:rPr>
                        <a:t>(10%)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4.1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발표 태도 및 전달력이 좋은가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944438"/>
                  </a:ext>
                </a:extLst>
              </a:tr>
              <a:tr h="2918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4.2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발표 시간을 잘 준수하였는가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298570225"/>
                  </a:ext>
                </a:extLst>
              </a:tr>
              <a:tr h="2918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4.3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질의응답을 잘하였는가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19522590"/>
                  </a:ext>
                </a:extLst>
              </a:tr>
              <a:tr h="29184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highlight>
                            <a:srgbClr val="FFFFFF"/>
                          </a:highlight>
                          <a:latin typeface="+mj-ea"/>
                          <a:ea typeface="+mj-ea"/>
                        </a:rPr>
                        <a:t>　</a:t>
                      </a:r>
                    </a:p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highlight>
                            <a:srgbClr val="FFFFFF"/>
                          </a:highlight>
                          <a:latin typeface="+mj-ea"/>
                          <a:ea typeface="+mj-ea"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j-ea"/>
                          <a:ea typeface="+mj-ea"/>
                        </a:rPr>
                        <a:t>200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09102509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FDE3010-8D6A-6DD7-325D-CB82183EB186}"/>
              </a:ext>
            </a:extLst>
          </p:cNvPr>
          <p:cNvSpPr txBox="1"/>
          <p:nvPr/>
        </p:nvSpPr>
        <p:spPr>
          <a:xfrm>
            <a:off x="234950" y="215900"/>
            <a:ext cx="5861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예선 주제 </a:t>
            </a:r>
            <a:r>
              <a:rPr lang="en-US" altLang="ko-KR" sz="1200" b="1" dirty="0"/>
              <a:t>1. </a:t>
            </a:r>
            <a:r>
              <a:rPr lang="ko-KR" altLang="en-US" sz="1200" b="1" dirty="0"/>
              <a:t>시뮬레이션을 활용한 개찰구 시스템 최적화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E17DAF5-30FE-6DBA-E46E-9CD20136B71C}"/>
              </a:ext>
            </a:extLst>
          </p:cNvPr>
          <p:cNvCxnSpPr>
            <a:cxnSpLocks/>
          </p:cNvCxnSpPr>
          <p:nvPr/>
        </p:nvCxnSpPr>
        <p:spPr>
          <a:xfrm>
            <a:off x="1892300" y="1301750"/>
            <a:ext cx="2114550" cy="679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062960F-5222-11D0-6F98-7D6BB4618435}"/>
              </a:ext>
            </a:extLst>
          </p:cNvPr>
          <p:cNvCxnSpPr>
            <a:cxnSpLocks/>
          </p:cNvCxnSpPr>
          <p:nvPr/>
        </p:nvCxnSpPr>
        <p:spPr>
          <a:xfrm flipV="1">
            <a:off x="1847850" y="1301750"/>
            <a:ext cx="2108200" cy="679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417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8E41231-49C7-88BC-4620-7A049AA16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46897"/>
              </p:ext>
            </p:extLst>
          </p:nvPr>
        </p:nvGraphicFramePr>
        <p:xfrm>
          <a:off x="442913" y="992188"/>
          <a:ext cx="5972175" cy="737076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30298">
                  <a:extLst>
                    <a:ext uri="{9D8B030D-6E8A-4147-A177-3AD203B41FA5}">
                      <a16:colId xmlns:a16="http://schemas.microsoft.com/office/drawing/2014/main" val="3684270683"/>
                    </a:ext>
                  </a:extLst>
                </a:gridCol>
                <a:gridCol w="830298">
                  <a:extLst>
                    <a:ext uri="{9D8B030D-6E8A-4147-A177-3AD203B41FA5}">
                      <a16:colId xmlns:a16="http://schemas.microsoft.com/office/drawing/2014/main" val="986004327"/>
                    </a:ext>
                  </a:extLst>
                </a:gridCol>
                <a:gridCol w="2437531">
                  <a:extLst>
                    <a:ext uri="{9D8B030D-6E8A-4147-A177-3AD203B41FA5}">
                      <a16:colId xmlns:a16="http://schemas.microsoft.com/office/drawing/2014/main" val="1253008562"/>
                    </a:ext>
                  </a:extLst>
                </a:gridCol>
                <a:gridCol w="468512">
                  <a:extLst>
                    <a:ext uri="{9D8B030D-6E8A-4147-A177-3AD203B41FA5}">
                      <a16:colId xmlns:a16="http://schemas.microsoft.com/office/drawing/2014/main" val="3754289881"/>
                    </a:ext>
                  </a:extLst>
                </a:gridCol>
                <a:gridCol w="468512">
                  <a:extLst>
                    <a:ext uri="{9D8B030D-6E8A-4147-A177-3AD203B41FA5}">
                      <a16:colId xmlns:a16="http://schemas.microsoft.com/office/drawing/2014/main" val="2926870595"/>
                    </a:ext>
                  </a:extLst>
                </a:gridCol>
                <a:gridCol w="468512">
                  <a:extLst>
                    <a:ext uri="{9D8B030D-6E8A-4147-A177-3AD203B41FA5}">
                      <a16:colId xmlns:a16="http://schemas.microsoft.com/office/drawing/2014/main" val="4154970879"/>
                    </a:ext>
                  </a:extLst>
                </a:gridCol>
                <a:gridCol w="468512">
                  <a:extLst>
                    <a:ext uri="{9D8B030D-6E8A-4147-A177-3AD203B41FA5}">
                      <a16:colId xmlns:a16="http://schemas.microsoft.com/office/drawing/2014/main" val="4193934551"/>
                    </a:ext>
                  </a:extLst>
                </a:gridCol>
              </a:tblGrid>
              <a:tr h="29184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highlight>
                            <a:srgbClr val="FFFFFF"/>
                          </a:highlight>
                          <a:latin typeface="+mj-ea"/>
                          <a:ea typeface="+mj-ea"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highlight>
                            <a:srgbClr val="FFFFFF"/>
                          </a:highlight>
                          <a:latin typeface="+mj-ea"/>
                          <a:ea typeface="+mj-ea"/>
                        </a:rPr>
                        <a:t>평가항목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j-ea"/>
                          <a:ea typeface="+mj-ea"/>
                        </a:rPr>
                        <a:t>배점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___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___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___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905037918"/>
                  </a:ext>
                </a:extLst>
              </a:tr>
              <a:tr h="6903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+mj-ea"/>
                          <a:ea typeface="+mj-ea"/>
                        </a:rPr>
                        <a:t>Phase 1</a:t>
                      </a:r>
                    </a:p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+mj-ea"/>
                          <a:ea typeface="+mj-ea"/>
                        </a:rPr>
                        <a:t> (20%)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1.1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데이터를 적절하게 분석하여 지수 </a:t>
                      </a:r>
                      <a:endParaRPr lang="en-US" altLang="ko-KR" sz="110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분포의 </a:t>
                      </a:r>
                      <a:r>
                        <a:rPr lang="ko-KR" altLang="en-US" sz="1100" u="none" strike="noStrike" dirty="0" err="1">
                          <a:effectLst/>
                          <a:latin typeface="+mj-ea"/>
                          <a:ea typeface="+mj-ea"/>
                        </a:rPr>
                        <a:t>모수를</a:t>
                      </a:r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 추정하였는가 </a:t>
                      </a:r>
                      <a:endParaRPr lang="en-US" altLang="ko-KR" sz="110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j-ea"/>
                          <a:ea typeface="+mj-ea"/>
                        </a:rPr>
                        <a:t>(group</a:t>
                      </a:r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당 </a:t>
                      </a:r>
                      <a:r>
                        <a:rPr lang="en-US" altLang="ko-KR" sz="1100" u="none" strike="noStrike" dirty="0">
                          <a:effectLst/>
                          <a:latin typeface="+mj-ea"/>
                          <a:ea typeface="+mj-ea"/>
                        </a:rPr>
                        <a:t>5</a:t>
                      </a:r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점</a:t>
                      </a:r>
                      <a:r>
                        <a:rPr lang="en-US" altLang="ko-KR" sz="1100" u="none" strike="noStrike" dirty="0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35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54566904"/>
                  </a:ext>
                </a:extLst>
              </a:tr>
              <a:tr h="5569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1.2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적절한 데이터 분석 방법을 </a:t>
                      </a:r>
                      <a:endParaRPr lang="en-US" altLang="ko-KR" sz="110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사용하였는가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461684928"/>
                  </a:ext>
                </a:extLst>
              </a:tr>
              <a:tr h="64758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+mj-ea"/>
                          <a:ea typeface="+mj-ea"/>
                        </a:rPr>
                        <a:t>Phase 2 </a:t>
                      </a:r>
                    </a:p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+mj-ea"/>
                          <a:ea typeface="+mj-ea"/>
                        </a:rPr>
                        <a:t>(40%)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2.1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주어진 조건을 통해 시스템 구조도를 적절하게 설계 하였는가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20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082424798"/>
                  </a:ext>
                </a:extLst>
              </a:tr>
              <a:tr h="6674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2.2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seed value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을 변경하여 시뮬레이션을 반복 실행하였는가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06294440"/>
                  </a:ext>
                </a:extLst>
              </a:tr>
              <a:tr h="10689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2.3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시스템 분석 지표 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유휴율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, average queue length 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을 통해 최적의 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개찰구 개수를 논리적으로 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도출하였는가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40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97597272"/>
                  </a:ext>
                </a:extLst>
              </a:tr>
              <a:tr h="4662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2.4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시뮬레이션의 결과를 </a:t>
                      </a:r>
                      <a:r>
                        <a:rPr lang="ko-KR" altLang="en-US" sz="1100" u="none" strike="noStrike" dirty="0" err="1">
                          <a:effectLst/>
                          <a:latin typeface="+mj-ea"/>
                          <a:ea typeface="+mj-ea"/>
                        </a:rPr>
                        <a:t>시각화하였는가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j-ea"/>
                          <a:ea typeface="+mj-ea"/>
                        </a:rPr>
                        <a:t>15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96224225"/>
                  </a:ext>
                </a:extLst>
              </a:tr>
              <a:tr h="46625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+mj-ea"/>
                          <a:ea typeface="+mj-ea"/>
                        </a:rPr>
                        <a:t>Phase 3 </a:t>
                      </a:r>
                    </a:p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+mj-ea"/>
                          <a:ea typeface="+mj-ea"/>
                        </a:rPr>
                        <a:t>(30%)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j-ea"/>
                          <a:ea typeface="+mj-ea"/>
                        </a:rPr>
                        <a:t>3.1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창의적인 해결방안을 제시하였는가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30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800594209"/>
                  </a:ext>
                </a:extLst>
              </a:tr>
              <a:tr h="615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3.2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제시한 방법이 명확하고 논리적인 </a:t>
                      </a:r>
                      <a:endParaRPr lang="en-US" altLang="ko-KR" sz="110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근거가 있는가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20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99425517"/>
                  </a:ext>
                </a:extLst>
              </a:tr>
              <a:tr h="7321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j-ea"/>
                          <a:ea typeface="+mj-ea"/>
                        </a:rPr>
                        <a:t>3.3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제시한 방법의 결론 및 한계점을 </a:t>
                      </a:r>
                      <a:endParaRPr lang="en-US" altLang="ko-KR" sz="1100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j-ea"/>
                          <a:ea typeface="+mj-ea"/>
                        </a:rPr>
                        <a:t>적절히 제시하였는가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836381013"/>
                  </a:ext>
                </a:extLst>
              </a:tr>
              <a:tr h="29184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j-ea"/>
                          <a:ea typeface="+mj-ea"/>
                        </a:rPr>
                        <a:t>발표</a:t>
                      </a:r>
                      <a:endParaRPr lang="en-US" altLang="ko-KR" sz="1100" b="1" u="none" strike="noStrike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  <a:latin typeface="+mj-ea"/>
                          <a:ea typeface="+mj-ea"/>
                        </a:rPr>
                        <a:t>(10%)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4.1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발표 태도 및 전달력이 좋은가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944438"/>
                  </a:ext>
                </a:extLst>
              </a:tr>
              <a:tr h="2918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4.2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발표 시간을 잘 준수하였는가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298570225"/>
                  </a:ext>
                </a:extLst>
              </a:tr>
              <a:tr h="2918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4.3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질의응답을 잘하였는가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19522590"/>
                  </a:ext>
                </a:extLst>
              </a:tr>
              <a:tr h="29184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highlight>
                            <a:srgbClr val="FFFFFF"/>
                          </a:highlight>
                          <a:latin typeface="+mj-ea"/>
                          <a:ea typeface="+mj-ea"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highlight>
                            <a:srgbClr val="FFFFFF"/>
                          </a:highlight>
                          <a:latin typeface="+mj-ea"/>
                          <a:ea typeface="+mj-ea"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  <a:latin typeface="+mj-ea"/>
                          <a:ea typeface="+mj-ea"/>
                        </a:rPr>
                        <a:t>200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09102509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FDE3010-8D6A-6DD7-325D-CB82183EB186}"/>
              </a:ext>
            </a:extLst>
          </p:cNvPr>
          <p:cNvSpPr txBox="1"/>
          <p:nvPr/>
        </p:nvSpPr>
        <p:spPr>
          <a:xfrm>
            <a:off x="234950" y="215900"/>
            <a:ext cx="5861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결선 주제 </a:t>
            </a:r>
            <a:r>
              <a:rPr lang="en-US" altLang="ko-KR" sz="1200" b="1" dirty="0"/>
              <a:t>1. </a:t>
            </a:r>
            <a:r>
              <a:rPr lang="ko-KR" altLang="en-US" sz="1200" b="1" dirty="0"/>
              <a:t>시뮬레이션을 활용한 개찰구 시스템 최적화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E17DAF5-30FE-6DBA-E46E-9CD20136B71C}"/>
              </a:ext>
            </a:extLst>
          </p:cNvPr>
          <p:cNvCxnSpPr>
            <a:cxnSpLocks/>
          </p:cNvCxnSpPr>
          <p:nvPr/>
        </p:nvCxnSpPr>
        <p:spPr>
          <a:xfrm>
            <a:off x="2101850" y="1295400"/>
            <a:ext cx="2451100" cy="679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062960F-5222-11D0-6F98-7D6BB4618435}"/>
              </a:ext>
            </a:extLst>
          </p:cNvPr>
          <p:cNvCxnSpPr>
            <a:cxnSpLocks/>
          </p:cNvCxnSpPr>
          <p:nvPr/>
        </p:nvCxnSpPr>
        <p:spPr>
          <a:xfrm flipV="1">
            <a:off x="2101850" y="1295400"/>
            <a:ext cx="2451100" cy="679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254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2456</TotalTime>
  <Words>296</Words>
  <Application>Microsoft Office PowerPoint</Application>
  <PresentationFormat>A4 용지(210x297mm)</PresentationFormat>
  <Paragraphs>124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정준 이</dc:creator>
  <cp:lastModifiedBy>허정후</cp:lastModifiedBy>
  <cp:revision>11</cp:revision>
  <cp:lastPrinted>2024-08-07T07:18:05Z</cp:lastPrinted>
  <dcterms:created xsi:type="dcterms:W3CDTF">2024-08-05T15:34:09Z</dcterms:created>
  <dcterms:modified xsi:type="dcterms:W3CDTF">2026-03-01T15:44:05Z</dcterms:modified>
</cp:coreProperties>
</file>